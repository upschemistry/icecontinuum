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70" r:id="rId2"/>
    <p:sldId id="371" r:id="rId3"/>
    <p:sldId id="412" r:id="rId4"/>
    <p:sldId id="413" r:id="rId5"/>
    <p:sldId id="29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64"/>
  </p:normalViewPr>
  <p:slideViewPr>
    <p:cSldViewPr snapToGrid="0">
      <p:cViewPr varScale="1">
        <p:scale>
          <a:sx n="112" d="100"/>
          <a:sy n="112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801C-E5AD-FE17-B9CA-2ADCB8312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E7C050-FB13-B5F7-3EE5-D6462A749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EAEE3-3B4C-DAA7-55AD-AF0824F5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BB5F1-4019-362D-7FEE-03A9B730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4CE96-8D27-7591-6972-574D08BF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31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A161B-391F-193D-06BA-B648C4EE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F38BD-F148-ACEE-F06C-AAAA88893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6B814-9BC8-3DC7-92DB-61ED3B5D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6E56-1C39-AB02-8784-BF4BD1CB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4DBAD-377C-5D25-B5ED-CA1CE7BD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8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3053-5F89-8AA6-3102-8DEAE455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8287B-392B-2382-5C17-F4AADF31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671B5-E801-DD2B-4D77-39056E5D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32C25-0938-E3C0-F0EE-1DD386EC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D2CDA-FAC5-27FE-B9E3-704E44AB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2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71CB6-F334-CC0E-86AD-30579F8C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6A20F-5E6E-4E62-5180-79240ED19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41815-3D6B-1E12-AB5B-46225C747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D36B9-2560-ABC5-7883-07427E08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F0FAB-22CB-0DE2-40D6-285AC2ED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7300D-480A-1F21-B31C-46E73E74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9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DB32-548D-674C-324E-5D747B640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7F08-91DD-9D0C-19F3-EAAB19F0D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2F02E-85DD-240F-0FE6-DFC012E23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2BD3D-EE08-408C-9936-BA32C0767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4AFBA-2E0B-27A0-B967-8E8170A1A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3C982E-052D-C372-A892-5E7837D8A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9EB6D5-4394-BC62-1B77-951BBB4D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6E13F-56F3-6B6F-16B0-5F5C2458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2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2A27-8E6A-857C-AB37-4364CE23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C51D7-2808-391E-3C5A-02D6DB53A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2BF95-CE23-D314-2EDC-460E81B0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639FB-2F8D-397C-901E-A735BAC4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5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4B735-D312-345D-6AD1-28AF907C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E3877-26B1-46A6-10D7-D97DE5ED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18938-124A-B07F-CF12-5076482F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9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C28E-7463-2F6C-FC7F-D7972945E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2B9C-D104-F7E6-FFEF-9E92013A9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62302-2EAB-3DA4-11B6-01A8C4272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F935B-AB51-C432-011A-A2B7CD1E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BCD01-8ED9-C299-6429-392B76BD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63860-0432-20C0-2673-54369242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3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7302-23C8-F21C-9A42-44869509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BDAEF8-6548-1154-E496-181B6DAB3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30160-1A93-519F-D1A6-D5693B839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ECE9D-718E-A109-EA48-6E619A6A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A670C-C6FA-F674-3A5D-99CD474B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88366-47B1-F44F-CE04-7D51CD8F9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3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3750-77F1-3C91-5CC6-1306D244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7B7D8-4A87-677A-0D9A-AF0EF9A86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04F3-92A0-9395-5B76-8560A736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EE211-2F37-D9E4-2810-B68F0ECA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DE471-FC1B-7BA5-3C7C-C25FB73A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5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1778F-30D9-694D-56F9-EB169301B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AE881-0801-EFD3-C55F-5CF7EE9C8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8A399-D299-37C0-F21E-DA18BE55F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511C-498E-5823-5684-1DC357A6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02040-6DD4-433F-93BD-6F9245C7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47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10F0B0-FA6F-C7A3-FFE0-F2783DE8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07244-446D-744A-FC37-79C9F3B97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56E99-0A49-BAFD-ACD0-C6C002795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1174D-CA90-8E4F-B61F-C6A6CBEB680B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F1EB4-13E9-3E54-F1E4-38AA1B7C5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ED1E6-37D2-9710-7B2F-76EAB981D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3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microsoft.com/office/2007/relationships/media" Target="../media/media2.mp4"/><Relationship Id="rId7" Type="http://schemas.openxmlformats.org/officeDocument/2006/relationships/image" Target="../media/image11.png"/><Relationship Id="rId12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2.png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“Risers” correspond to mainly </a:t>
                </a:r>
                <a14:m>
                  <m:oMath xmlns:m="http://schemas.openxmlformats.org/officeDocument/2006/math">
                    <m:r>
                      <a:rPr lang="en-US" sz="2400" b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sz="2400" b="1" dirty="0"/>
                  <a:t>surface I (thin QLL)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>
            <a:extLst>
              <a:ext uri="{FF2B5EF4-FFF2-40B4-BE49-F238E27FC236}">
                <a16:creationId xmlns:a16="http://schemas.microsoft.com/office/drawing/2014/main" id="{643AF363-53A2-24BE-F7A8-2B48D77FD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19"/>
          <a:stretch/>
        </p:blipFill>
        <p:spPr bwMode="auto">
          <a:xfrm>
            <a:off x="980660" y="461665"/>
            <a:ext cx="10235103" cy="613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8AC005-C6EF-3916-65CF-D723FE9EB329}"/>
              </a:ext>
            </a:extLst>
          </p:cNvPr>
          <p:cNvCxnSpPr>
            <a:cxnSpLocks/>
          </p:cNvCxnSpPr>
          <p:nvPr/>
        </p:nvCxnSpPr>
        <p:spPr>
          <a:xfrm flipH="1">
            <a:off x="4655127" y="3192087"/>
            <a:ext cx="731520" cy="1645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654B0C-A618-316F-31AB-6342CE3007A1}"/>
              </a:ext>
            </a:extLst>
          </p:cNvPr>
          <p:cNvCxnSpPr>
            <a:cxnSpLocks/>
          </p:cNvCxnSpPr>
          <p:nvPr/>
        </p:nvCxnSpPr>
        <p:spPr>
          <a:xfrm flipH="1">
            <a:off x="5037513" y="3192087"/>
            <a:ext cx="515389" cy="19451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07AD6A-0D18-2883-AA0E-FAB7C1ED1987}"/>
              </a:ext>
            </a:extLst>
          </p:cNvPr>
          <p:cNvCxnSpPr>
            <a:cxnSpLocks/>
          </p:cNvCxnSpPr>
          <p:nvPr/>
        </p:nvCxnSpPr>
        <p:spPr>
          <a:xfrm flipH="1">
            <a:off x="4389120" y="3192087"/>
            <a:ext cx="791014" cy="13799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D649479-4589-9164-DAF9-0666BC4416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999" t="37476" r="38349" b="26506"/>
          <a:stretch/>
        </p:blipFill>
        <p:spPr>
          <a:xfrm rot="10800000">
            <a:off x="4784627" y="853156"/>
            <a:ext cx="2823258" cy="233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3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“Treads” correspond to mainly </a:t>
                </a:r>
                <a14:m>
                  <m:oMath xmlns:m="http://schemas.openxmlformats.org/officeDocument/2006/math">
                    <m:r>
                      <a:rPr lang="en-US" sz="2400" b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sz="2400" b="1" dirty="0"/>
                  <a:t>surface II (thick QLL)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>
            <a:extLst>
              <a:ext uri="{FF2B5EF4-FFF2-40B4-BE49-F238E27FC236}">
                <a16:creationId xmlns:a16="http://schemas.microsoft.com/office/drawing/2014/main" id="{643AF363-53A2-24BE-F7A8-2B48D77FD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19"/>
          <a:stretch/>
        </p:blipFill>
        <p:spPr bwMode="auto">
          <a:xfrm>
            <a:off x="980660" y="461665"/>
            <a:ext cx="10235103" cy="613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8AC005-C6EF-3916-65CF-D723FE9EB329}"/>
              </a:ext>
            </a:extLst>
          </p:cNvPr>
          <p:cNvCxnSpPr>
            <a:cxnSpLocks/>
          </p:cNvCxnSpPr>
          <p:nvPr/>
        </p:nvCxnSpPr>
        <p:spPr>
          <a:xfrm flipH="1">
            <a:off x="4807365" y="3192087"/>
            <a:ext cx="579282" cy="17622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654B0C-A618-316F-31AB-6342CE3007A1}"/>
              </a:ext>
            </a:extLst>
          </p:cNvPr>
          <p:cNvCxnSpPr>
            <a:cxnSpLocks/>
          </p:cNvCxnSpPr>
          <p:nvPr/>
        </p:nvCxnSpPr>
        <p:spPr>
          <a:xfrm flipH="1">
            <a:off x="5253644" y="3192087"/>
            <a:ext cx="299258" cy="20283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07AD6A-0D18-2883-AA0E-FAB7C1ED1987}"/>
              </a:ext>
            </a:extLst>
          </p:cNvPr>
          <p:cNvCxnSpPr>
            <a:cxnSpLocks/>
          </p:cNvCxnSpPr>
          <p:nvPr/>
        </p:nvCxnSpPr>
        <p:spPr>
          <a:xfrm flipH="1">
            <a:off x="4517724" y="3192087"/>
            <a:ext cx="662410" cy="14962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57B692E-AD3B-73AC-7783-48B7B3C08B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999" t="27039" r="38349" b="36943"/>
          <a:stretch/>
        </p:blipFill>
        <p:spPr>
          <a:xfrm>
            <a:off x="4807365" y="923330"/>
            <a:ext cx="2738552" cy="226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55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89621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𝑸𝑳𝑳</m:t>
                        </m:r>
                      </m:sub>
                    </m:sSub>
                  </m:oMath>
                </a14:m>
                <a:r>
                  <a:rPr lang="en-US" sz="2400" b="1" dirty="0"/>
                  <a:t> evolves to a stable limit cycle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89621"/>
              </a:xfrm>
              <a:prstGeom prst="rect">
                <a:avLst/>
              </a:prstGeom>
              <a:blipFill>
                <a:blip r:embed="rId4"/>
                <a:stretch>
                  <a:fillRect l="-104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D774013-9C48-D773-F1A3-6F0EA9657862}"/>
              </a:ext>
            </a:extLst>
          </p:cNvPr>
          <p:cNvGrpSpPr/>
          <p:nvPr/>
        </p:nvGrpSpPr>
        <p:grpSpPr>
          <a:xfrm>
            <a:off x="971550" y="813050"/>
            <a:ext cx="8218170" cy="5404870"/>
            <a:chOff x="1467363" y="592094"/>
            <a:chExt cx="8507284" cy="56738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8C70813-C584-D9D1-C937-8F07FAF7C0B1}"/>
                    </a:ext>
                  </a:extLst>
                </p:cNvPr>
                <p:cNvSpPr txBox="1"/>
                <p:nvPr/>
              </p:nvSpPr>
              <p:spPr>
                <a:xfrm>
                  <a:off x="1467363" y="2764999"/>
                  <a:ext cx="942203" cy="4877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𝑸𝑳𝑳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8C70813-C584-D9D1-C937-8F07FAF7C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7363" y="2764999"/>
                  <a:ext cx="942203" cy="487762"/>
                </a:xfrm>
                <a:prstGeom prst="rect">
                  <a:avLst/>
                </a:prstGeom>
                <a:blipFill>
                  <a:blip r:embed="rId5"/>
                  <a:stretch>
                    <a:fillRect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NQLL.mp4">
              <a:hlinkClick r:id="" action="ppaction://media"/>
              <a:extLst>
                <a:ext uri="{FF2B5EF4-FFF2-40B4-BE49-F238E27FC236}">
                  <a16:creationId xmlns:a16="http://schemas.microsoft.com/office/drawing/2014/main" id="{A7B493C8-B0AA-0DAE-9C77-5AAE93916FFA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6"/>
            <a:stretch>
              <a:fillRect/>
            </a:stretch>
          </p:blipFill>
          <p:spPr>
            <a:xfrm>
              <a:off x="2409566" y="592094"/>
              <a:ext cx="7565081" cy="5673811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6D588CA-9437-1955-FF9F-B46BA6290B5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7999" t="37476" r="38349" b="26506"/>
          <a:stretch/>
        </p:blipFill>
        <p:spPr>
          <a:xfrm rot="10800000">
            <a:off x="9692728" y="4215272"/>
            <a:ext cx="1762955" cy="14605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9BE898-4C86-5FBC-7E9F-B8FDFD59C48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7999" t="27039" r="38349" b="36943"/>
          <a:stretch/>
        </p:blipFill>
        <p:spPr>
          <a:xfrm>
            <a:off x="9692729" y="1039587"/>
            <a:ext cx="1762955" cy="146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3532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D01A38-E30F-E356-D3E5-E6CA6646FDE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The total ice thickness evolves to a stable traveling wave</a:t>
            </a:r>
          </a:p>
        </p:txBody>
      </p:sp>
      <p:pic>
        <p:nvPicPr>
          <p:cNvPr id="14" name="Ntot.mp4">
            <a:hlinkClick r:id="" action="ppaction://media"/>
            <a:extLst>
              <a:ext uri="{FF2B5EF4-FFF2-40B4-BE49-F238E27FC236}">
                <a16:creationId xmlns:a16="http://schemas.microsoft.com/office/drawing/2014/main" id="{47EEFBED-218D-2A9E-1DCC-F5C7A35205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85744" y="742367"/>
            <a:ext cx="7302638" cy="54769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207FB9-2EEA-EE22-4870-5F1DB3FBC520}"/>
                  </a:ext>
                </a:extLst>
              </p:cNvPr>
              <p:cNvSpPr txBox="1"/>
              <p:nvPr/>
            </p:nvSpPr>
            <p:spPr>
              <a:xfrm>
                <a:off x="3850573" y="567928"/>
                <a:ext cx="3372981" cy="489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𝒊𝒄𝒆</m:t>
                          </m:r>
                        </m:sub>
                      </m:sSub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𝑸𝑳𝑳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207FB9-2EEA-EE22-4870-5F1DB3FB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573" y="567928"/>
                <a:ext cx="3372981" cy="489621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06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D01A38-E30F-E356-D3E5-E6CA6646FDE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Time reach these limit cycles/traveling waves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87C51E-264F-9EB6-16CE-B342D4D7A15A}"/>
              </a:ext>
            </a:extLst>
          </p:cNvPr>
          <p:cNvGrpSpPr/>
          <p:nvPr/>
        </p:nvGrpSpPr>
        <p:grpSpPr>
          <a:xfrm>
            <a:off x="6545218" y="1301451"/>
            <a:ext cx="5308156" cy="4162920"/>
            <a:chOff x="3629855" y="760544"/>
            <a:chExt cx="5678379" cy="455964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146AFEC-5B3C-BDF1-64AD-99B66960F8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6"/>
            <a:stretch/>
          </p:blipFill>
          <p:spPr bwMode="auto">
            <a:xfrm>
              <a:off x="3629855" y="760544"/>
              <a:ext cx="5678379" cy="4559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5BB258E-BAD6-F190-F798-632A3A5B2789}"/>
                </a:ext>
              </a:extLst>
            </p:cNvPr>
            <p:cNvCxnSpPr/>
            <p:nvPr/>
          </p:nvCxnSpPr>
          <p:spPr>
            <a:xfrm flipH="1" flipV="1">
              <a:off x="7003686" y="1550856"/>
              <a:ext cx="313743" cy="5980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0536ED-6329-D8A4-6C70-90354728D65D}"/>
                    </a:ext>
                  </a:extLst>
                </p:cNvPr>
                <p:cNvSpPr txBox="1"/>
                <p:nvPr/>
              </p:nvSpPr>
              <p:spPr>
                <a:xfrm>
                  <a:off x="5426521" y="2339034"/>
                  <a:ext cx="3685581" cy="13147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i="1" dirty="0"/>
                    <a:t>Limit cycle/converged traveling wave achieved after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𝒎𝒔</m:t>
                      </m:r>
                    </m:oMath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0536ED-6329-D8A4-6C70-90354728D6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6521" y="2339034"/>
                  <a:ext cx="3685581" cy="1314719"/>
                </a:xfrm>
                <a:prstGeom prst="rect">
                  <a:avLst/>
                </a:prstGeom>
                <a:blipFill>
                  <a:blip r:embed="rId7"/>
                  <a:stretch>
                    <a:fillRect l="-2941" t="-4211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94CFCCB-D5F8-26A5-0F6A-07E37BC30E6B}"/>
              </a:ext>
            </a:extLst>
          </p:cNvPr>
          <p:cNvGrpSpPr/>
          <p:nvPr/>
        </p:nvGrpSpPr>
        <p:grpSpPr>
          <a:xfrm>
            <a:off x="1007383" y="719457"/>
            <a:ext cx="3610337" cy="2412363"/>
            <a:chOff x="172993" y="822327"/>
            <a:chExt cx="5050543" cy="3787907"/>
          </a:xfrm>
        </p:grpSpPr>
        <p:pic>
          <p:nvPicPr>
            <p:cNvPr id="29" name="Ntot.mp4">
              <a:hlinkClick r:id="" action="ppaction://media"/>
              <a:extLst>
                <a:ext uri="{FF2B5EF4-FFF2-40B4-BE49-F238E27FC236}">
                  <a16:creationId xmlns:a16="http://schemas.microsoft.com/office/drawing/2014/main" id="{9B8440BB-F16B-9E82-18A0-2188A0BE1C7F}"/>
                </a:ext>
              </a:extLst>
            </p:cNvPr>
            <p:cNvPicPr>
              <a:picLocks noChangeAspect="1"/>
            </p:cNvPicPr>
            <p:nvPr>
              <a:vide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8"/>
            <a:stretch>
              <a:fillRect/>
            </a:stretch>
          </p:blipFill>
          <p:spPr>
            <a:xfrm>
              <a:off x="172993" y="822327"/>
              <a:ext cx="5050543" cy="378790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DF636A2-ADE7-E370-74E7-51851D31B57B}"/>
                    </a:ext>
                  </a:extLst>
                </p:cNvPr>
                <p:cNvSpPr txBox="1"/>
                <p:nvPr/>
              </p:nvSpPr>
              <p:spPr>
                <a:xfrm>
                  <a:off x="1855524" y="1322081"/>
                  <a:ext cx="1685479" cy="8281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𝒕𝒐𝒕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DF636A2-ADE7-E370-74E7-51851D31B5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5524" y="1322081"/>
                  <a:ext cx="1685479" cy="82819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" name="NQLL.mp4">
            <a:hlinkClick r:id="" action="ppaction://media"/>
            <a:extLst>
              <a:ext uri="{FF2B5EF4-FFF2-40B4-BE49-F238E27FC236}">
                <a16:creationId xmlns:a16="http://schemas.microsoft.com/office/drawing/2014/main" id="{A30C0E96-F1C4-23D5-B906-B5A6AB1908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985683" y="3686793"/>
            <a:ext cx="3632037" cy="25083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CB66A0-2B0A-F8BE-AA52-1845746459A6}"/>
                  </a:ext>
                </a:extLst>
              </p:cNvPr>
              <p:cNvSpPr txBox="1"/>
              <p:nvPr/>
            </p:nvSpPr>
            <p:spPr>
              <a:xfrm>
                <a:off x="2647561" y="3896378"/>
                <a:ext cx="879433" cy="489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𝑸𝑳𝑳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CB66A0-2B0A-F8BE-AA52-184574645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561" y="3896378"/>
                <a:ext cx="879433" cy="489621"/>
              </a:xfrm>
              <a:prstGeom prst="rect">
                <a:avLst/>
              </a:prstGeom>
              <a:blipFill>
                <a:blip r:embed="rId1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743E248-3676-B866-0613-2DEAB3C52AA7}"/>
                  </a:ext>
                </a:extLst>
              </p:cNvPr>
              <p:cNvSpPr txBox="1"/>
              <p:nvPr/>
            </p:nvSpPr>
            <p:spPr>
              <a:xfrm>
                <a:off x="4958895" y="2364428"/>
                <a:ext cx="195139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r>
                  <a:rPr lang="en-US" sz="2400" b="1" dirty="0"/>
                  <a:t>(max)</a:t>
                </a:r>
              </a:p>
              <a:p>
                <a:r>
                  <a:rPr lang="en-US" sz="2400" b="1" dirty="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r>
                  <a:rPr lang="en-US" sz="2400" b="1" dirty="0"/>
                  <a:t>(min)</a:t>
                </a:r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743E248-3676-B866-0613-2DEAB3C52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895" y="2364428"/>
                <a:ext cx="1951399" cy="830997"/>
              </a:xfrm>
              <a:prstGeom prst="rect">
                <a:avLst/>
              </a:prstGeom>
              <a:blipFill>
                <a:blip r:embed="rId13"/>
                <a:stretch>
                  <a:fillRect l="-4516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11897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79</Words>
  <Application>Microsoft Macintosh PowerPoint</Application>
  <PresentationFormat>Widescreen</PresentationFormat>
  <Paragraphs>12</Paragraphs>
  <Slides>5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</cp:revision>
  <dcterms:created xsi:type="dcterms:W3CDTF">2025-07-24T21:33:46Z</dcterms:created>
  <dcterms:modified xsi:type="dcterms:W3CDTF">2025-08-19T19:27:03Z</dcterms:modified>
</cp:coreProperties>
</file>